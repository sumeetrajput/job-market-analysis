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102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5426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project analyses 244,827 Upwork job postings across eight analytical tasks. The headline point I want to make today is that the most valuable work was not the modelling - it was discovering that the raw data contained a collection artifact that would have invalidated half the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submissions treat these as eight disconnected notebooks. Building one cleaned dataset that all eight draw from means every result rests on the same auditable set of data-quality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single most consequential thing I found. If you plot raw daily volume you appear to discover explosive market growth in February. It is not real - it is the date the scraper was switched on. Tasks 2, 3, 6 and 8 are all time-series tasks, so all four would have been wrong.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data, two treatments. The left panel is what you get if you trust the file. The right panel is what is actually there: a stable market with a strong weekly cycle.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Rows carry boolean quality flags rather than being deleted, so each analysis declares its own requirements and every decision stays auditable.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someone asks how accurate my categories are, I do not say 'it is keyword-based'. I say 63.9% tier-1, 26.3% tier-2, 9.9% unmatched, 89.6% measured precision, and here is the validation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Important caveat: this is correlation, not causation. Adding 'senior' to a title does not raise the rate - it signals scope and client type that were already priced in. And 'philippines' is the client's sourcing preference, not a statement about worker capability.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temptation is to drop the baseline and present 3.81% as a success. Feature importance shows why that would mislead. I would rather report an honest negative than a flattering result I cannot defend.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Clients post on working days. Volume swings 32% on this cycle while the structure of demand barely moves - the hourly-versus-fixed split varies by under 2 percentage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Relevance is proxied by the derived category, which has its own error rate - so this measures topical coherence, not whether a human would want the job. The engine sees only titles: no description, no skills, no client rating.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Interesting detail: rate ranking does not track national income. Several lower-income countries post higher medians than wealthy ones, which suggests self-selection in who uses international freelance platforms.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I most want to be asked about. A result that contradicts the expected narrative is still a result. All three are documented with their evidence in section 11 of the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Flask and FastAPI exist because the brief specifies Flask, while FastAPI gives auto-generated OpenAPI docs which are themselves a Task 5 deliverable. Both import the same recommender class - one model, evaluated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judgement rather than output volume. The three lines above are the ones I would want an examiner to remember.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4937760" cy="493776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931920"/>
            <a:ext cx="3108960" cy="3108960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173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412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 Market Analysis</a:t>
            </a:r>
            <a:endParaRPr lang="en-US" sz="42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Recommendation System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study of 244,827 freelance job postings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4053078"/>
            <a:ext cx="1280160" cy="3200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B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Upwork marketplace  ·  February–March 2024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31520" y="5806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Sumeet Rajput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tasks, one pipeline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 defines eight separate analytical tasks. They are not eight projects — they are one dataset viewed eight ways, so the system is built as a single cleaned pipeline that every task draws from.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15568" y="254203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Keyword–pay correlation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17920" y="251460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0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784848" y="254203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Emerging job categories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227832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227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15568" y="325526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forecasting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217920" y="3227832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3227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784848" y="325526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Rates across countries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48640" y="3941064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941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15568" y="3968496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engine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217920" y="3941064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3941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784848" y="3968496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dynamics dashboard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548640" y="4654296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4654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115568" y="468172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work landscape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6217920" y="465429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0" y="4654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784848" y="468172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projections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as: analysis pipeline · recommendation API · Streamlit dashboard · SQL layer · Docker deployment · 17-page report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2344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FINDING THAT SHAPED EVERYTHING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69164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raw data contained a</a:t>
            </a:r>
            <a:endParaRPr lang="en-US" sz="38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false growth curve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342900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283 rows spread across the 48 days before 13 February — roughly 6 per day. Then 244,545 rows across the next 41 days — roughly 5,960 per day.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4389120"/>
            <a:ext cx="4663440" cy="1371600"/>
          </a:xfrm>
          <a:prstGeom prst="roundRect">
            <a:avLst>
              <a:gd name="adj" fmla="val 5333"/>
            </a:avLst>
          </a:prstGeom>
          <a:solidFill>
            <a:srgbClr val="2C3570"/>
          </a:solidFill>
          <a:ln w="12700">
            <a:solidFill>
              <a:srgbClr val="3A458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4553712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~100,000%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005840" y="513892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apparent February growth — entirely an artifact of when the scraper started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760720" y="4389120"/>
            <a:ext cx="4663440" cy="1371600"/>
          </a:xfrm>
          <a:prstGeom prst="roundRect">
            <a:avLst>
              <a:gd name="adj" fmla="val 5333"/>
            </a:avLst>
          </a:prstGeom>
          <a:solidFill>
            <a:srgbClr val="2C3570"/>
          </a:solidFill>
          <a:ln w="12700">
            <a:solidFill>
              <a:srgbClr val="3A458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35040" y="4553712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of 8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035040" y="513892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are time-series and would have been invalidated by these 283 rows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versus cleaned</a:t>
            </a:r>
            <a:endParaRPr lang="en-US" sz="3400" dirty="0"/>
          </a:p>
        </p:txBody>
      </p:sp>
      <p:pic>
        <p:nvPicPr>
          <p:cNvPr id="4" name="Image 0" descr="results/figures/fig01_backfill_artif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00200"/>
            <a:ext cx="10789920" cy="3566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53492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raw daily volume implies explosive growth.   Right: after excluding pre-collection backfill, a stable market with a clear weekly cycle.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85800" y="57607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time-series result in this project filters on a `ts_reliable` flag that excludes these rows, the 15 February collection outage, and the truncated final day.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Flag, don't delete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tasks need different exclusions. A forecasting model must drop the collection outage; a pay histogram is unaffected by it. One deletion policy cannot serve both — so the pipeline imposes none.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269748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335584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deleted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611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244,828 — a null title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931920" y="269748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38,514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931920" y="335584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values kept null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931920" y="3611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15.7% — never imputed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0" y="2697480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4,279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7315200" y="33558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flagged, not removed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0" y="3611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 only where relevant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4251960"/>
            <a:ext cx="10881360" cy="1600200"/>
          </a:xfrm>
          <a:prstGeom prst="roundRect">
            <a:avLst>
              <a:gd name="adj" fmla="val 4571"/>
            </a:avLst>
          </a:prstGeom>
          <a:solidFill>
            <a:srgbClr val="F4F7FA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443484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imputation would have been wrong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8680" y="480060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38,514 postings disclose no rate at all. Filling those with a mean would invent a sixth of the pay data and pull every statistic toward the centre — narrowing exactly the distributions that Tasks 1 and 4 exist to measure. Missing pay is treated as an informative category: the client chose to negotiate rather than advertise.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 has no category column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22 categories are derived from job title text using a two-tier keyword taxonomy. Because they are manufactured, their accuracy must be measured — not assumed.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487168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2816352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1499616" y="263347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— specific phrases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99616" y="294436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Multi-word matches, ordered so commercial context beats technical: 'Shopify Developer' resolves to E-commerce.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503920" y="276148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63.9%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875520" y="287121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92.5% precision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694176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2688" y="402336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1499616" y="384048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— generic tokens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99616" y="4151376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bare words like 'Website' that phrase rules cannot match. Without it, 38% of the corpus is uncategorised.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503920" y="3968496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26.3%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875520" y="407822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86.7% precision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901184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4F7FA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32688" y="5230368"/>
            <a:ext cx="384048" cy="384048"/>
          </a:xfrm>
          <a:prstGeom prst="ellipse">
            <a:avLst/>
          </a:prstGeom>
          <a:solidFill>
            <a:srgbClr val="5A6470"/>
          </a:solidFill>
          <a:ln/>
        </p:spPr>
      </p:sp>
      <p:sp>
        <p:nvSpPr>
          <p:cNvPr id="19" name="Text 17"/>
          <p:cNvSpPr/>
          <p:nvPr/>
        </p:nvSpPr>
        <p:spPr>
          <a:xfrm>
            <a:off x="1499616" y="504748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Unmatched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99616" y="5358384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as 'Other', never guessed. Every row records which tier classified it.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503920" y="5175504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5A64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9.9%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875520" y="52852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labelled honestly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614476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taxonomy precision: 89.6%, measured by re-checking a 240-title sample against independent anchor terms.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keywords are worth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rates and fixed budgets are incompatible units — converting between them needs project duration, which the dataset lacks. The analysis runs as two tracks that are never averaged.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349240" cy="3200400"/>
          </a:xfrm>
          <a:prstGeom prst="roundRect">
            <a:avLst>
              <a:gd name="adj" fmla="val 2286"/>
            </a:avLst>
          </a:prstGeom>
          <a:solidFill>
            <a:srgbClr val="F4F7FA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4871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TRACK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68680" y="288036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attorney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246120" y="288036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$105/hr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663440" y="288036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+367%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335584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lawyer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246120" y="335584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$90/hr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663440" y="335584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+300%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383133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cryptocurrency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246120" y="383133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$55/hr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663440" y="3831336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+144%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" y="430682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246120" y="430682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$8/hr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663440" y="4306824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−62%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478231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philippines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246120" y="478231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$4/hr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663440" y="4782312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−82%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8680" y="51389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26× spread, all FDR-significant with large effect sizes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80760" y="2286000"/>
            <a:ext cx="5349240" cy="3200400"/>
          </a:xfrm>
          <a:prstGeom prst="roundRect">
            <a:avLst>
              <a:gd name="adj" fmla="val 2286"/>
            </a:avLst>
          </a:prstGeom>
          <a:solidFill>
            <a:srgbClr val="F4F7FA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24871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FIXED-PRICE TRACK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0" y="288036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778240" y="288036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$1,000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0195560" y="288036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+900%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0" y="335584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8778240" y="335584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$775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10195560" y="3355848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+675%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0" y="383133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ghostwriter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8778240" y="383133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$750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10195560" y="3831336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+650%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0" y="430682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thumbnail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8778240" y="430682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10195560" y="4306824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−80%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400800" y="478231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8778240" y="478231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10195560" y="4782312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−95%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400800" y="51389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200× spread across 510 keywords tested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48640" y="57150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990 keywords tested · Mann-Whitney U · Cliff's delta effect sizes · Benjamini-Hochberg FDR correction. With n&gt;100k, p-values alone are meaningless — effect size is the filter that matters.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lost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naive rule — predict the same weekday one week ago — beat every model I trained. This is reported rather than concealed.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12848"/>
            <a:ext cx="5760720" cy="548640"/>
          </a:xfrm>
          <a:prstGeom prst="roundRect">
            <a:avLst>
              <a:gd name="adj" fmla="val 13333"/>
            </a:avLst>
          </a:prstGeom>
          <a:solidFill>
            <a:srgbClr val="E8F2F8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21284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naive (lag-7)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572000" y="221284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1.60%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871216"/>
            <a:ext cx="5760720" cy="548640"/>
          </a:xfrm>
          <a:prstGeom prst="roundRect">
            <a:avLst>
              <a:gd name="adj" fmla="val 13333"/>
            </a:avLst>
          </a:prstGeom>
          <a:solidFill>
            <a:srgbClr val="F4F7FA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7121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572000" y="2871216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3.81%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529584"/>
            <a:ext cx="5760720" cy="548640"/>
          </a:xfrm>
          <a:prstGeom prst="roundRect">
            <a:avLst>
              <a:gd name="adj" fmla="val 13333"/>
            </a:avLst>
          </a:prstGeom>
          <a:solidFill>
            <a:srgbClr val="F4F7FA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52958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regression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0" y="3529584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5.67%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187952"/>
            <a:ext cx="5760720" cy="548640"/>
          </a:xfrm>
          <a:prstGeom prst="roundRect">
            <a:avLst>
              <a:gd name="adj" fmla="val 13333"/>
            </a:avLst>
          </a:prstGeom>
          <a:solidFill>
            <a:srgbClr val="F4F7FA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18795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(lag-1)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0" y="418795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15.50%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493776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 on a held-out temporal split — never a random split, which would train on the future to predict the past.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629400" y="2212848"/>
            <a:ext cx="4800600" cy="2651760"/>
          </a:xfrm>
          <a:prstGeom prst="roundRect">
            <a:avLst>
              <a:gd name="adj" fmla="val 2759"/>
            </a:avLst>
          </a:prstGeom>
          <a:solidFill>
            <a:srgbClr val="21295C"/>
          </a:solidFill>
          <a:ln w="12700">
            <a:solidFill>
              <a:srgbClr val="3A458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0" y="24231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lost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949440" y="2852928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93%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6949440" y="361188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Random Forest's feature weight sits on the weekday indicator, its Fourier encoding and the 7-day lag. The model spent its capacity relearning the calendar — which the naive rule encodes for free.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55778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24 training days, the weekly cycle is essentially the entire signal. Recognising when a simple method suffices is an engineering judgement, not a failure.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signal that dominates everything</a:t>
            </a:r>
            <a:endParaRPr lang="en-US" sz="3400" dirty="0"/>
          </a:p>
        </p:txBody>
      </p:sp>
      <p:pic>
        <p:nvPicPr>
          <p:cNvPr id="4" name="Image 0" descr="results/figures/fig02_weekly_seasona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0" y="1554480"/>
            <a:ext cx="7772400" cy="3794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5778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Weekdays average 6,779 postings; weekends 4,612 — a 32% collapse. This is the strongest pattern in the dataset, and any credible short-horizon forecast must reproduce it.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recommender that was measured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implementations build cosine similarity and stop, with no evidence the recommendations are any good. A recommender without an evaluation metric is an untested assertion.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0.636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30358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Precision@10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category-relevant results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383280" y="237744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5A64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0.080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383280" y="30358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baseline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83280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chance agreement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217920" y="237744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7.9×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217920" y="303580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17920" y="3291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random selection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778240" y="237744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0.761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778240" y="30358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reciprocal rank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778240" y="32918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hit in top 1–2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97764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416052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8680" y="4498848"/>
            <a:ext cx="4754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over titles with unigrams and bigrams, plus a domain stopword list that strips hiring boilerplate — 'urgent', 'expert', 'needed'. Without it the engine matches postings on shared filler rather than on the work itself.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80760" y="397764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F4F7FA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416052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ranks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0" y="4498848"/>
            <a:ext cx="4754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similarity 0.80, pay disclosure 0.12, recency 0.08. A posting that hides its rate is a materially worse lead, and a two-day-old posting is more actionable than a five-week-old one.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clients pay, by country</a:t>
            </a:r>
            <a:endParaRPr lang="en-US" sz="3400" dirty="0"/>
          </a:p>
        </p:txBody>
      </p:sp>
      <p:pic>
        <p:nvPicPr>
          <p:cNvPr id="4" name="Image 0" descr="results/figures/fig05_country_ra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54480"/>
            <a:ext cx="5852160" cy="4206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858000" y="1600200"/>
            <a:ext cx="4572000" cy="1417320"/>
          </a:xfrm>
          <a:prstGeom prst="roundRect">
            <a:avLst>
              <a:gd name="adj" fmla="val 5161"/>
            </a:avLst>
          </a:prstGeom>
          <a:solidFill>
            <a:srgbClr val="FFF4E0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32320" y="178308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critical distinction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132320" y="2121408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46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`country` is the CLIENT's location, not the freelancer's. This shows what clients PAY, not what workers in that country EARN.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858000" y="324612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6858000" y="39044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858000" y="4160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min. 200 postings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9235440" y="324612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2.8×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9235440" y="39044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spread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235440" y="4160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$27.50 to $10.00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858000" y="457200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41%</a:t>
            </a:r>
            <a:endParaRPr lang="en-US" sz="4000" dirty="0"/>
          </a:p>
        </p:txBody>
      </p:sp>
      <p:sp>
        <p:nvSpPr>
          <p:cNvPr id="15" name="Text 12"/>
          <p:cNvSpPr/>
          <p:nvPr/>
        </p:nvSpPr>
        <p:spPr>
          <a:xfrm>
            <a:off x="6858000" y="52303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share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858000" y="5486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postings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9235440" y="457200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66%</a:t>
            </a:r>
            <a:endParaRPr lang="en-US" sz="4000" dirty="0"/>
          </a:p>
        </p:txBody>
      </p:sp>
      <p:sp>
        <p:nvSpPr>
          <p:cNvPr id="18" name="Text 15"/>
          <p:cNvSpPr/>
          <p:nvPr/>
        </p:nvSpPr>
        <p:spPr>
          <a:xfrm>
            <a:off x="9235440" y="52303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 share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9235440" y="54864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HHI 0.192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48640" y="58978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Rates are not PPP-adjusted, so a higher nominal rate does not mean higher real value. Because the US is 41% of postings, any pooled global average is a disguised US average — medians are reported per country and never pooled.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7724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RESULTS THAT LOOK LIKE FAILURES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…and are reported as found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2148840"/>
            <a:ext cx="10698480" cy="1115568"/>
          </a:xfrm>
          <a:prstGeom prst="roundRect">
            <a:avLst>
              <a:gd name="adj" fmla="val 6557"/>
            </a:avLst>
          </a:prstGeom>
          <a:solidFill>
            <a:srgbClr val="2C3570"/>
          </a:solidFill>
          <a:ln w="12700">
            <a:solidFill>
              <a:srgbClr val="3A458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5568" y="251460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1115568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783080" y="2313432"/>
            <a:ext cx="9235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lost to a naive rule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783080" y="2642616"/>
            <a:ext cx="923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and Ridge were both beaten by 'same as last week'. Dropping the baseline would have made 3.81% MAPE look like a success.</a:t>
            </a:r>
            <a:endParaRPr lang="en-US" sz="1180" dirty="0"/>
          </a:p>
        </p:txBody>
      </p:sp>
      <p:sp>
        <p:nvSpPr>
          <p:cNvPr id="9" name="Shape 7"/>
          <p:cNvSpPr/>
          <p:nvPr/>
        </p:nvSpPr>
        <p:spPr>
          <a:xfrm>
            <a:off x="731520" y="3447288"/>
            <a:ext cx="10698480" cy="1115568"/>
          </a:xfrm>
          <a:prstGeom prst="roundRect">
            <a:avLst>
              <a:gd name="adj" fmla="val 6557"/>
            </a:avLst>
          </a:prstGeom>
          <a:solidFill>
            <a:srgbClr val="2C3570"/>
          </a:solidFill>
          <a:ln w="12700">
            <a:solidFill>
              <a:srgbClr val="3A458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15568" y="3813048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1115568" y="3813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783080" y="3611880"/>
            <a:ext cx="9235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category is emerging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783080" y="3941064"/>
            <a:ext cx="923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asks for emerging categories. Across 39 days, none shows significant growth and two show significant decline. Ranking insignificant slopes would misrepresent the evidence.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731520" y="4745736"/>
            <a:ext cx="10698480" cy="1115568"/>
          </a:xfrm>
          <a:prstGeom prst="roundRect">
            <a:avLst>
              <a:gd name="adj" fmla="val 6557"/>
            </a:avLst>
          </a:prstGeom>
          <a:solidFill>
            <a:srgbClr val="2C3570"/>
          </a:solidFill>
          <a:ln w="12700">
            <a:solidFill>
              <a:srgbClr val="3A458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15568" y="5111496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/>
          <p:nvPr/>
        </p:nvSpPr>
        <p:spPr>
          <a:xfrm>
            <a:off x="1115568" y="5111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783080" y="4910328"/>
            <a:ext cx="9235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7 was unanswerable as posed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783080" y="5239512"/>
            <a:ext cx="9235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Upwork is remote-only, so 'the shift to remote' has no comparison group. Reporting that remote work dominates would be a tautology dressed as a finding.</a:t>
            </a:r>
            <a:endParaRPr lang="en-US" sz="1180" dirty="0"/>
          </a:p>
        </p:txBody>
      </p:sp>
      <p:sp>
        <p:nvSpPr>
          <p:cNvPr id="19" name="Text 17"/>
          <p:cNvSpPr/>
          <p:nvPr/>
        </p:nvSpPr>
        <p:spPr>
          <a:xfrm>
            <a:off x="731520" y="61722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Adjusting an analysis until it produces a positive finding is the mechanism by which unreliable research gets made.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was built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5349240" cy="1115568"/>
          </a:xfrm>
          <a:prstGeom prst="roundRect">
            <a:avLst>
              <a:gd name="adj" fmla="val 6557"/>
            </a:avLst>
          </a:prstGeom>
          <a:solidFill>
            <a:srgbClr val="F4F7FA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70992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pipeline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41248" y="202996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pandas · scikit-learn · SciPy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41248" y="230428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file, 8 tasks, 50s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1572768"/>
            <a:ext cx="5349240" cy="1115568"/>
          </a:xfrm>
          <a:prstGeom prst="roundRect">
            <a:avLst>
              <a:gd name="adj" fmla="val 6557"/>
            </a:avLst>
          </a:prstGeom>
          <a:solidFill>
            <a:srgbClr val="F4F7FA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10528" y="170992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API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510528" y="202996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Flask, same model class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510528" y="230428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endpoints, auto Swagger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871216"/>
            <a:ext cx="5349240" cy="1115568"/>
          </a:xfrm>
          <a:prstGeom prst="roundRect">
            <a:avLst>
              <a:gd name="adj" fmla="val 6557"/>
            </a:avLst>
          </a:prstGeom>
          <a:solidFill>
            <a:srgbClr val="F4F7FA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300837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41248" y="332841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Streamlit, six pages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41248" y="360273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filters, data quality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2871216"/>
            <a:ext cx="5349240" cy="1115568"/>
          </a:xfrm>
          <a:prstGeom prst="roundRect">
            <a:avLst>
              <a:gd name="adj" fmla="val 6557"/>
            </a:avLst>
          </a:prstGeom>
          <a:solidFill>
            <a:srgbClr val="F4F7FA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0528" y="300837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layer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510528" y="332841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/ PostgreSQL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510528" y="360273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CTEs, window functions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169664"/>
            <a:ext cx="5349240" cy="1115568"/>
          </a:xfrm>
          <a:prstGeom prst="roundRect">
            <a:avLst>
              <a:gd name="adj" fmla="val 6557"/>
            </a:avLst>
          </a:prstGeom>
          <a:solidFill>
            <a:srgbClr val="F4F7FA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" y="430682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charts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41248" y="462686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Plotly, incl. world choropleth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41248" y="490118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standalone HTML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4169664"/>
            <a:ext cx="5349240" cy="1115568"/>
          </a:xfrm>
          <a:prstGeom prst="roundRect">
            <a:avLst>
              <a:gd name="adj" fmla="val 6557"/>
            </a:avLst>
          </a:prstGeom>
          <a:solidFill>
            <a:srgbClr val="F4F7FA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10528" y="430682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6510528" y="462686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Compose, non-root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510528" y="490118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command, 4 services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553212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E8F2F8"/>
          </a:solidFill>
          <a:ln w="12700">
            <a:solidFill>
              <a:srgbClr val="E2E8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56509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68680" y="59436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invariant self-tests · SQL layer cross-checked against pandas on 5 measures, all agreeing · taxonomy precision measured on a held-out sample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023360"/>
            <a:ext cx="4206240" cy="420624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5156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CLOSING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most valuable finding</a:t>
            </a:r>
            <a:endParaRPr lang="en-US" sz="36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wasn't a model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06324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was noticing that 283 rows out of 244,828 would have manufactured a false growth narrative across half the project. Everything downstream depends on having caught it.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" y="4270248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416052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data couldn't answer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40680" y="4160520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B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constraint is stated, not worked around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4837176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472744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model lost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440680" y="4727448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B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baseline is reported, not hidden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5404104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529437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categories were invented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440680" y="5294376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B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precision is measured, not assumed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 ·  Questions welcome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1987</Words>
  <Application>Microsoft Office PowerPoint</Application>
  <PresentationFormat>Widescreen</PresentationFormat>
  <Paragraphs>233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Job Market Analysis &amp; Recommendation System</dc:title>
  <dc:subject>PptxGenJS Presentation</dc:subject>
  <dc:creator>Sumeet Rajput</dc:creator>
  <cp:lastModifiedBy>Sumeet Rajput</cp:lastModifiedBy>
  <cp:revision>2</cp:revision>
  <dcterms:created xsi:type="dcterms:W3CDTF">2026-08-17T09:27:20Z</dcterms:created>
  <dcterms:modified xsi:type="dcterms:W3CDTF">2026-08-17T10:11:11Z</dcterms:modified>
</cp:coreProperties>
</file>